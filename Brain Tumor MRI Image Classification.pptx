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1" r:id="rId4"/>
    <p:sldId id="262" r:id="rId5"/>
    <p:sldId id="280" r:id="rId6"/>
    <p:sldId id="281" r:id="rId7"/>
    <p:sldId id="287" r:id="rId8"/>
    <p:sldId id="260" r:id="rId9"/>
    <p:sldId id="259" r:id="rId10"/>
    <p:sldId id="258" r:id="rId11"/>
    <p:sldId id="257" r:id="rId12"/>
    <p:sldId id="264" r:id="rId13"/>
    <p:sldId id="263" r:id="rId14"/>
    <p:sldId id="265" r:id="rId15"/>
    <p:sldId id="266" r:id="rId16"/>
    <p:sldId id="282" r:id="rId17"/>
    <p:sldId id="267" r:id="rId18"/>
    <p:sldId id="276" r:id="rId19"/>
    <p:sldId id="270" r:id="rId20"/>
    <p:sldId id="277" r:id="rId21"/>
    <p:sldId id="278" r:id="rId22"/>
    <p:sldId id="284" r:id="rId23"/>
    <p:sldId id="268" r:id="rId24"/>
    <p:sldId id="283" r:id="rId25"/>
    <p:sldId id="285" r:id="rId26"/>
    <p:sldId id="269" r:id="rId27"/>
    <p:sldId id="272" r:id="rId28"/>
    <p:sldId id="273" r:id="rId29"/>
    <p:sldId id="274" r:id="rId30"/>
    <p:sldId id="27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7BD3"/>
            </a:gs>
            <a:gs pos="100000">
              <a:srgbClr val="03437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noFill/>
        </p:spPr>
        <p:txBody>
          <a:bodyPr/>
          <a:lstStyle/>
          <a:p>
            <a:r>
              <a:rPr lang="en-US" b="1" dirty="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B</a:t>
            </a:r>
            <a:r>
              <a:rPr lang="en-US" altLang="en-US" b="1" dirty="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rain Tumor MRI Image Classification</a:t>
            </a:r>
            <a:endParaRPr lang="en-US" altLang="en-US" b="1" dirty="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6000" b="1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Problem Statement </a:t>
            </a:r>
            <a:endParaRPr lang="en-US" sz="6000" b="1" u="sng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Brain tumor detection is crucial for early treatment.</a:t>
            </a:r>
            <a:endParaRPr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Manual MRI analysis is slow and prone to human error.</a:t>
            </a:r>
            <a:endParaRPr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Goal: Build a CNN model to classify MRI images into tumor types.</a:t>
            </a:r>
            <a:endParaRPr 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6000" b="1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Dataset</a:t>
            </a:r>
            <a:endParaRPr lang="en-US" sz="6000" b="1" u="sng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MRI brain scan images.</a:t>
            </a:r>
            <a:endParaRPr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Four classes: </a:t>
            </a:r>
            <a:endParaRPr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800100" lvl="1" indent="-342900">
              <a:buFont typeface="Wingdings" panose="05000000000000000000" charset="0"/>
              <a:buChar char="Ø"/>
            </a:pPr>
            <a:r>
              <a:rPr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glioma</a:t>
            </a:r>
            <a:endParaRPr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800100" lvl="1" indent="-342900">
              <a:buFont typeface="Wingdings" panose="05000000000000000000" charset="0"/>
              <a:buChar char="Ø"/>
            </a:pPr>
            <a:r>
              <a:rPr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meningioma</a:t>
            </a:r>
            <a:endParaRPr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800100" lvl="1" indent="-342900">
              <a:buFont typeface="Wingdings" panose="05000000000000000000" charset="0"/>
              <a:buChar char="Ø"/>
            </a:pPr>
            <a:r>
              <a:rPr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no tumor</a:t>
            </a:r>
            <a:endParaRPr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800100" lvl="1" indent="-342900">
              <a:buFont typeface="Wingdings" panose="05000000000000000000" charset="0"/>
              <a:buChar char="Ø"/>
            </a:pPr>
            <a:r>
              <a:rPr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pituitary</a:t>
            </a:r>
            <a:endParaRPr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b="1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 split</a:t>
            </a:r>
            <a:r>
              <a:rPr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 into training, validation, and testing.</a:t>
            </a:r>
            <a:endParaRPr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1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Class Distribution</a:t>
            </a:r>
            <a:endParaRPr lang="en-US" b="1" u="sng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Content Placeholder 3" descr="Screenshot 2025-12-03 17484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73175" y="1825625"/>
            <a:ext cx="6226810" cy="4351655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8011795" y="2268220"/>
            <a:ext cx="3463925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This bar chart displays the number of MRI images available for each tumor type:</a:t>
            </a:r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Glioma - 570 images</a:t>
            </a:r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Meningioma - 360 images</a:t>
            </a:r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No Tumor - 335 images</a:t>
            </a:r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Pituitary - 440 images</a:t>
            </a:r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pPr algn="ctr"/>
            <a:r>
              <a:rPr lang="en-US" altLang="en-US" sz="4890" b="1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Image Pixel Intensity Distributions Visualization</a:t>
            </a:r>
            <a:endParaRPr lang="en-US" altLang="en-US" sz="4890" b="1" u="sng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 descr="Screenshot 2025-12-03 17485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58315" y="1825625"/>
            <a:ext cx="867410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52195"/>
            <a:ext cx="10515600" cy="4351338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 sz="25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This histogram compares the pixel intensity values (0–255) across all four classes.</a:t>
            </a:r>
            <a:endParaRPr lang="en-US" altLang="en-US" sz="25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endParaRPr lang="en-US" altLang="en-US" sz="25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5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MRI images differ in contrast and brightness depending on tumor type.</a:t>
            </a:r>
            <a:endParaRPr lang="en-US" altLang="en-US" sz="25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5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Glioma and no_tumor show higher frequencies of darker pixels (intensity near 0).</a:t>
            </a:r>
            <a:endParaRPr lang="en-US" altLang="en-US" sz="25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5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Meningioma and pituitary tumors have slightly brighter intensity patterns.</a:t>
            </a:r>
            <a:endParaRPr lang="en-US" altLang="en-US" sz="25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5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These differences help the model learn texture-based and brightness-based features for classification.</a:t>
            </a:r>
            <a:endParaRPr lang="en-US" altLang="en-US" sz="25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6000" b="1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Flow Chart</a:t>
            </a:r>
            <a:endParaRPr lang="en-US" sz="6000" b="1" u="sng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Content Placeholder 3" descr="ChatGPT Image Nov 21, 2025, 08_54_07 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19200" y="1691640"/>
            <a:ext cx="9625330" cy="4973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6000" b="1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Data PreProcessing</a:t>
            </a:r>
            <a:endParaRPr lang="en-US" sz="6000" b="1" u="sng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b="1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Image Resizing</a:t>
            </a:r>
            <a:r>
              <a:rPr lang="en-US" altLang="en-US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r>
              <a:rPr lang="en-US" altLang="en-US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MRI images come in different resolutions.</a:t>
            </a:r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To maintain consistency and reduce computation the image is r</a:t>
            </a:r>
            <a:r>
              <a:rPr lang="en-US" altLang="en-US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esized all to a fixed size </a:t>
            </a:r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b="1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Normalization:</a:t>
            </a:r>
            <a:endParaRPr lang="en-US" altLang="en-US" b="1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Improves CNN learning speed.</a:t>
            </a:r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indent="-457200">
              <a:buFont typeface="Wingdings" panose="05000000000000000000" charset="0"/>
              <a:buChar char="Ø"/>
            </a:pPr>
            <a:r>
              <a:rPr lang="en-US" altLang="en-US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Moves values from 0–1</a:t>
            </a:r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sz="6000" b="1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Data Augmentation</a:t>
            </a:r>
            <a:endParaRPr lang="en-US" altLang="en-US" sz="6000" b="1" u="sng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lang="en-US" altLang="en-US" sz="27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Used only for Training to avoid overfitting.</a:t>
            </a:r>
            <a:endParaRPr lang="en-US" altLang="en-US" sz="27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7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Include:</a:t>
            </a:r>
            <a:endParaRPr lang="en-US" altLang="en-US" sz="27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7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Rotation (+ -10</a:t>
            </a:r>
            <a:r>
              <a:rPr lang="en-US" altLang="en-US" sz="27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°</a:t>
            </a:r>
            <a:r>
              <a:rPr lang="en-US" altLang="en-US" sz="27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)</a:t>
            </a:r>
            <a:endParaRPr lang="en-US" altLang="en-US" sz="27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7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Zoom (0.1)</a:t>
            </a:r>
            <a:endParaRPr lang="en-US" altLang="en-US" sz="27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7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Width/height shift (0.1)</a:t>
            </a:r>
            <a:endParaRPr lang="en-US" altLang="en-US" sz="27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7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Horizontal flip</a:t>
            </a:r>
            <a:endParaRPr lang="en-US" altLang="en-US" sz="27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7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Shear transformation</a:t>
            </a:r>
            <a:endParaRPr lang="en-US" altLang="en-US" sz="27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457200">
              <a:buNone/>
            </a:pPr>
            <a:r>
              <a:rPr lang="en-US" altLang="en-US" sz="27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Brightness change (0.8–1.2)</a:t>
            </a:r>
            <a:endParaRPr lang="en-US" altLang="en-US" sz="27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p>
            <a:r>
              <a:rPr lang="en-US" altLang="en-US" sz="4800" b="1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CNN-Convolutional Neural Network</a:t>
            </a:r>
            <a:endParaRPr lang="en-US" altLang="en-US" sz="4800" b="1" u="sng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A deep learning model specialized for image data.</a:t>
            </a:r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Designed to automatically learn spatial patterns, such as edges, textures, shapes, and objects.</a:t>
            </a:r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Uses convolution operations to extract important visual features from images.</a:t>
            </a:r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Widely used in computer vision tasks like classification, segmentation, and detection.</a:t>
            </a:r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p>
            <a:r>
              <a:rPr lang="en-US" altLang="en-US" sz="4800" b="1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CNN-Convolutional Neural Network</a:t>
            </a:r>
            <a:endParaRPr lang="en-US" altLang="en-US" sz="4800" b="1" u="sng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Content Placeholder 4" descr="Architecture-of-CNN-with-convolutional-pooling-fully-connected-layer-and-output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62025" y="1691005"/>
            <a:ext cx="9910445" cy="43757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6000" b="1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CNN Architecture Diagram</a:t>
            </a:r>
            <a:endParaRPr lang="en-US" sz="6000" b="1" u="sng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6" name="Content Placeholder 5" descr="cnn_architecture"/>
          <p:cNvPicPr>
            <a:picLocks noChangeAspect="1"/>
          </p:cNvPicPr>
          <p:nvPr>
            <p:ph idx="1"/>
          </p:nvPr>
        </p:nvPicPr>
        <p:blipFill>
          <a:blip r:embed="rId1"/>
          <a:srcRect t="10127" b="19656"/>
          <a:stretch>
            <a:fillRect/>
          </a:stretch>
        </p:blipFill>
        <p:spPr>
          <a:xfrm>
            <a:off x="3197860" y="1767840"/>
            <a:ext cx="5582285" cy="45631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b="1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Build the CNN Model</a:t>
            </a:r>
            <a:endParaRPr lang="en-US" altLang="en-US" b="1" u="sng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Create a custom deep CNN architecture.</a:t>
            </a:r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Use ReLU activation, MaxPooling, Dropout, and Softmax output.</a:t>
            </a:r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sz="6000" b="1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Training</a:t>
            </a:r>
            <a:endParaRPr lang="en-US" altLang="en-US" sz="6000" b="1" u="sng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Train the model on MRI dataset.</a:t>
            </a:r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Use callbacks:</a:t>
            </a:r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EarlyStopping (prevents overfitting)</a:t>
            </a:r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ModelCheckpoint (save best model)</a:t>
            </a:r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1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Transfer Training Model Comparison</a:t>
            </a:r>
            <a:endParaRPr lang="en-US" b="1" u="sng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graphicFrame>
        <p:nvGraphicFramePr>
          <p:cNvPr id="5" name="Content Placeholder 4"/>
          <p:cNvGraphicFramePr/>
          <p:nvPr>
            <p:ph idx="1"/>
          </p:nvPr>
        </p:nvGraphicFramePr>
        <p:xfrm>
          <a:off x="838200" y="1964055"/>
          <a:ext cx="10515600" cy="3675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622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800" u="sng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EfficientNetB0</a:t>
                      </a:r>
                      <a:endParaRPr lang="en-US" sz="1800" u="sng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sz="1800" u="sng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MobileNetV2</a:t>
                      </a:r>
                      <a:endParaRPr lang="en-US" sz="1800" u="sng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Higher accuracy (0.82)</a:t>
                      </a:r>
                      <a:endParaRPr lang="en-US" sz="18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Lower accuracy (0.76)</a:t>
                      </a:r>
                      <a:endParaRPr lang="en-US" sz="18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EfficientNetB0 is more accurate</a:t>
                      </a:r>
                      <a:endParaRPr lang="en-US" sz="18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MobileNetV2 is faster and lighter</a:t>
                      </a:r>
                      <a:endParaRPr lang="en-US" sz="18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Advanced feature extraction</a:t>
                      </a:r>
                      <a:r>
                        <a:rPr lang="en-US"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and </a:t>
                      </a:r>
                      <a:r>
                        <a:rPr sz="18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Better for complex MRI tumor patterns</a:t>
                      </a:r>
                      <a:endParaRPr lang="en-US" sz="18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Suitable when speed is more important than highest accuracy</a:t>
                      </a:r>
                      <a:endParaRPr lang="en-US" altLang="en-US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Provides higher accuracy due to its deep and balanced architecture</a:t>
                      </a:r>
                      <a:endParaRPr lang="en-US" altLang="en-US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Requires less memory and computational power</a:t>
                      </a:r>
                      <a:endParaRPr lang="en-US" altLang="en-US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  <a:tr h="1170940">
                <a:tc>
                  <a:txBody>
                    <a:bodyPr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Requires more computation but results in better diagnosis accuracy</a:t>
                      </a:r>
                      <a:endParaRPr lang="en-US" altLang="en-US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en-US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Trains quickly due to lightweight architecture</a:t>
                      </a:r>
                      <a:endParaRPr lang="en-US" altLang="en-US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sz="6000" b="1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Model Evaluation</a:t>
            </a:r>
            <a:endParaRPr lang="en-US" altLang="en-US" sz="6000" b="1" u="sng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altLang="en-US" sz="27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We compute:</a:t>
            </a:r>
            <a:endParaRPr lang="en-US" altLang="en-US" sz="27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7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Accuracy</a:t>
            </a:r>
            <a:endParaRPr lang="en-US" altLang="en-US" sz="27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7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Precision</a:t>
            </a:r>
            <a:endParaRPr lang="en-US" altLang="en-US" sz="27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7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Recall</a:t>
            </a:r>
            <a:endParaRPr lang="en-US" altLang="en-US" sz="27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7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F1-Score</a:t>
            </a:r>
            <a:endParaRPr lang="en-US" altLang="en-US" sz="27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7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Confusion Matrix</a:t>
            </a:r>
            <a:endParaRPr lang="en-US" altLang="en-US" sz="27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7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Loss/Accuracy curves</a:t>
            </a:r>
            <a:endParaRPr lang="en-US" altLang="en-US" sz="27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b="1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Model Evaluation</a:t>
            </a:r>
            <a:endParaRPr lang="en-US"/>
          </a:p>
        </p:txBody>
      </p:sp>
      <p:pic>
        <p:nvPicPr>
          <p:cNvPr id="5" name="Content Placeholder 4" descr="Screenshot 2025-12-03 17491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96060" y="1891030"/>
            <a:ext cx="9221470" cy="40925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5400" b="1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Confusion Matrix</a:t>
            </a:r>
            <a:endParaRPr lang="en-US" sz="5400" b="1" u="sng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Content Placeholder 4" descr="Screenshot 2025-12-03 17493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95650" y="1825625"/>
            <a:ext cx="560006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1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Validation - Accuracy </a:t>
            </a:r>
            <a:endParaRPr lang="en-US" b="1" u="sng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Content Placeholder 3" descr="Screenshot 2025-12-03 17494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86965" y="1825625"/>
            <a:ext cx="741680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b="1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Validation - Loss</a:t>
            </a:r>
            <a:endParaRPr lang="en-US" b="1" u="sng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Content Placeholder 3" descr="Screenshot 2025-12-03 17500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49525" y="1825625"/>
            <a:ext cx="709168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pPr algn="ctr"/>
            <a:r>
              <a:rPr lang="en-US" sz="5400" b="1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Validation Accuracy &amp; Loss Comparison</a:t>
            </a:r>
            <a:endParaRPr lang="en-US" sz="5400" b="1" u="sng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lvl="1" indent="0">
              <a:buNone/>
            </a:pPr>
            <a:r>
              <a:rPr sz="28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EfficientNetB0 minimizes loss but accuracy remains lower (overfitting)</a:t>
            </a:r>
            <a:endParaRPr sz="28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lvl="1" indent="0">
              <a:buNone/>
            </a:pPr>
            <a:r>
              <a:rPr sz="28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MobileNetV2 shows stable loss but low accuracy (underfitting)</a:t>
            </a:r>
            <a:endParaRPr sz="28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457200" lvl="1" indent="0">
              <a:buNone/>
            </a:pPr>
            <a:r>
              <a:rPr sz="28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• Custom CNN shows higher loss but best accuracy (generalization)</a:t>
            </a:r>
            <a:endParaRPr sz="28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sz="28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p>
            <a:pPr algn="ctr"/>
            <a:r>
              <a:rPr lang="en-US" altLang="en-US" sz="4800" b="1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Comparison With Transfer Learning</a:t>
            </a:r>
            <a:endParaRPr lang="en-US" altLang="en-US" sz="4800" b="1" u="sng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Compare custom CNN vs EfficientNetB0 vs Mobilenet V2.</a:t>
            </a:r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sz="28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Custom CNN performs best for this dataset</a:t>
            </a:r>
            <a:endParaRPr lang="en-US" altLang="en-US" sz="28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5" name="Picture 4" descr="Screenshot 2025-12-03 1751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2695" y="3247390"/>
            <a:ext cx="9763760" cy="203644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5400" b="1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Comparison</a:t>
            </a:r>
            <a:endParaRPr lang="en-US" sz="5400" b="1" u="sng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1"/>
            <a:r>
              <a:rPr sz="28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Custom CNN: 0.89 (Best)</a:t>
            </a:r>
            <a:endParaRPr sz="28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1"/>
            <a:r>
              <a:rPr sz="28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EfficientNetB0: 0.82</a:t>
            </a:r>
            <a:endParaRPr sz="28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1"/>
            <a:r>
              <a:rPr sz="28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MobileNetV2: 0.76</a:t>
            </a:r>
            <a:endParaRPr sz="28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lvl="1"/>
            <a:r>
              <a:rPr sz="28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Reason: Custom CNN generalizes better due to few parameters</a:t>
            </a:r>
            <a:endParaRPr sz="28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US" sz="28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5400" b="1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Future Enhancement</a:t>
            </a:r>
            <a:endParaRPr lang="en-US" sz="5400" b="1" u="sng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Collect larger &amp; balanced dataset</a:t>
            </a:r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Use advanced data augmentation</a:t>
            </a:r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Try medical transfer learning models</a:t>
            </a:r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Ensemble multiple CNN models</a:t>
            </a:r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Deploy model as web/mobile app</a:t>
            </a:r>
            <a:endParaRPr lang="en-US" altLang="en-US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sz="6000" b="1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Deployment- Streamlit App</a:t>
            </a:r>
            <a:endParaRPr lang="en-US" altLang="en-US" sz="6000" b="1" u="sng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marL="0" indent="0">
              <a:buNone/>
            </a:pPr>
            <a:r>
              <a:rPr lang="en-US" altLang="en-US" sz="27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We build an interactive app where users can:</a:t>
            </a:r>
            <a:endParaRPr lang="en-US" altLang="en-US" sz="27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7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Upload an MRI scan</a:t>
            </a:r>
            <a:endParaRPr lang="en-US" altLang="en-US" sz="27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en-US" sz="270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Get:</a:t>
            </a:r>
            <a:endParaRPr lang="en-US" altLang="en-US" sz="27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231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Predicted tumor type</a:t>
            </a:r>
            <a:endParaRPr lang="en-US" altLang="en-US" sz="270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lvl="1"/>
            <a:r>
              <a:rPr lang="en-US" altLang="en-US" sz="2310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</a:rPr>
              <a:t>Confidence score</a:t>
            </a:r>
            <a:endParaRPr lang="en-US" altLang="en-US" sz="2310">
              <a:solidFill>
                <a:schemeClr val="bg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b="1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Streamlit App</a:t>
            </a:r>
            <a:endParaRPr lang="en-US"/>
          </a:p>
        </p:txBody>
      </p:sp>
      <p:pic>
        <p:nvPicPr>
          <p:cNvPr id="4" name="Content Placeholder 3" descr="Screenshot 2025-11-20 21145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95070" y="2176780"/>
            <a:ext cx="9801225" cy="36480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b="1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Streamlit App</a:t>
            </a:r>
            <a:endParaRPr lang="en-US"/>
          </a:p>
        </p:txBody>
      </p:sp>
      <p:pic>
        <p:nvPicPr>
          <p:cNvPr id="4" name="Content Placeholder 3" descr="Screenshot 2025-11-20 21135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88315" y="1765300"/>
            <a:ext cx="5258435" cy="4351655"/>
          </a:xfrm>
          <a:prstGeom prst="rect">
            <a:avLst/>
          </a:prstGeom>
        </p:spPr>
      </p:pic>
      <p:pic>
        <p:nvPicPr>
          <p:cNvPr id="5" name="Picture 4" descr="Screenshot 2025-11-20 2114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9480" y="1765300"/>
            <a:ext cx="5570220" cy="435229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b="1" u="sng">
                <a:solidFill>
                  <a:schemeClr val="bg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Streamlit App</a:t>
            </a:r>
            <a:endParaRPr lang="en-US"/>
          </a:p>
        </p:txBody>
      </p:sp>
      <p:pic>
        <p:nvPicPr>
          <p:cNvPr id="4" name="Content Placeholder 3" descr="Screenshot 2025-11-20 21143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60400" y="1825625"/>
            <a:ext cx="5203190" cy="4351655"/>
          </a:xfrm>
          <a:prstGeom prst="rect">
            <a:avLst/>
          </a:prstGeom>
        </p:spPr>
      </p:pic>
      <p:pic>
        <p:nvPicPr>
          <p:cNvPr id="5" name="Picture 4" descr="Screenshot 2025-11-20 2114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270" y="1826895"/>
            <a:ext cx="5422265" cy="435038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99385"/>
            <a:ext cx="10515600" cy="1325563"/>
          </a:xfrm>
        </p:spPr>
        <p:txBody>
          <a:bodyPr/>
          <a:p>
            <a:pPr algn="ctr"/>
            <a:r>
              <a:rPr lang="en-US" sz="8000" b="1"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Times New Roman" panose="02020603050405020304" charset="0"/>
                <a:cs typeface="Times New Roman" panose="02020603050405020304" charset="0"/>
              </a:rPr>
              <a:t>Thank you</a:t>
            </a:r>
            <a:endParaRPr lang="en-US" sz="8000" b="1"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3566</Words>
  <Application>WPS Presentation</Application>
  <PresentationFormat>Widescreen</PresentationFormat>
  <Paragraphs>176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9" baseType="lpstr">
      <vt:lpstr>Arial</vt:lpstr>
      <vt:lpstr>SimSun</vt:lpstr>
      <vt:lpstr>Wingdings</vt:lpstr>
      <vt:lpstr>Times New Roman</vt:lpstr>
      <vt:lpstr>Wingdings</vt:lpstr>
      <vt:lpstr>Microsoft YaHei</vt:lpstr>
      <vt:lpstr>Arial Unicode MS</vt:lpstr>
      <vt:lpstr>Calibri Light</vt:lpstr>
      <vt:lpstr>Calibri</vt:lpstr>
      <vt:lpstr>Office Theme</vt:lpstr>
      <vt:lpstr>Brain Tumor MRI Image Classification</vt:lpstr>
      <vt:lpstr>Problem Statement </vt:lpstr>
      <vt:lpstr>Dataset</vt:lpstr>
      <vt:lpstr>PowerPoint 演示文稿</vt:lpstr>
      <vt:lpstr>PowerPoint 演示文稿</vt:lpstr>
      <vt:lpstr>PowerPoint 演示文稿</vt:lpstr>
      <vt:lpstr>Flow Chart</vt:lpstr>
      <vt:lpstr>Data PreProcessing</vt:lpstr>
      <vt:lpstr>Data Augmentation</vt:lpstr>
      <vt:lpstr>CNN-Convolutional Neural Network</vt:lpstr>
      <vt:lpstr>CNN-Convolutional Neural Network</vt:lpstr>
      <vt:lpstr>CNN Architecture Diagram</vt:lpstr>
      <vt:lpstr>Build the CNN Model</vt:lpstr>
      <vt:lpstr>Training</vt:lpstr>
      <vt:lpstr>PowerPoint 演示文稿</vt:lpstr>
      <vt:lpstr>Model Evaluation</vt:lpstr>
      <vt:lpstr>Model Evaluation</vt:lpstr>
      <vt:lpstr>Confusion Matrix</vt:lpstr>
      <vt:lpstr>Training &amp; Validation - Accuracy </vt:lpstr>
      <vt:lpstr>Training &amp; Validation - Loss</vt:lpstr>
      <vt:lpstr>PowerPoint 演示文稿</vt:lpstr>
      <vt:lpstr>Comparison With Transfer Learning</vt:lpstr>
      <vt:lpstr>PowerPoint 演示文稿</vt:lpstr>
      <vt:lpstr>PowerPoint 演示文稿</vt:lpstr>
      <vt:lpstr>Deployment- Streamlit App</vt:lpstr>
      <vt:lpstr>Streamlit App</vt:lpstr>
      <vt:lpstr>Streamlit App</vt:lpstr>
      <vt:lpstr>Streamlit App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Evangeline T</cp:lastModifiedBy>
  <cp:revision>8</cp:revision>
  <dcterms:created xsi:type="dcterms:W3CDTF">2025-07-23T00:59:00Z</dcterms:created>
  <dcterms:modified xsi:type="dcterms:W3CDTF">2025-12-03T18:15:53Z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D8F32CBA0D024CBC9D43BAE5235A4437_11</vt:lpwstr>
  </property>
  <property fmtid="{D5CDD505-2E9C-101B-9397-08002B2CF9AE}" pid="3" name="KSOProductBuildVer">
    <vt:lpwstr>1033-12.2.0.23155</vt:lpwstr>
  </property>
</Properties>
</file>